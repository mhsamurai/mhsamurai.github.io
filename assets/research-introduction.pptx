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1" r:id="rId1"/>
  </p:sldMasterIdLst>
  <p:notesMasterIdLst>
    <p:notesMasterId r:id="rId5"/>
  </p:notesMasterIdLst>
  <p:handoutMasterIdLst>
    <p:handoutMasterId r:id="rId6"/>
  </p:handoutMasterIdLst>
  <p:sldIdLst>
    <p:sldId id="446" r:id="rId2"/>
    <p:sldId id="447" r:id="rId3"/>
    <p:sldId id="494" r:id="rId4"/>
  </p:sldIdLst>
  <p:sldSz cx="12192000" cy="6858000"/>
  <p:notesSz cx="6858000" cy="9144000"/>
  <p:defaultTextStyle>
    <a:defPPr>
      <a:defRPr lang="en-US"/>
    </a:defPPr>
    <a:lvl1pPr marL="0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456914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913829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1370744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1827658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2284572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2741486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3198401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3655315" algn="l" defTabSz="91382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F1BE9B-F5C5-2741-A3C3-596DA7CD37CD}">
          <p14:sldIdLst>
            <p14:sldId id="446"/>
            <p14:sldId id="447"/>
            <p14:sldId id="494"/>
          </p14:sldIdLst>
        </p14:section>
        <p14:section name="章別テンプレ" id="{1D56666C-5A84-CB42-966E-28592ED9B2B9}">
          <p14:sldIdLst/>
        </p14:section>
        <p14:section name="個別スライドテンプレ" id="{8CD789E2-6F53-A441-AD80-E9061D216915}">
          <p14:sldIdLst/>
        </p14:section>
        <p14:section name="ガイドライン" id="{6ADECC4F-F1C5-9746-A61A-9319F150131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3D3"/>
    <a:srgbClr val="7676CA"/>
    <a:srgbClr val="D9D9D9"/>
    <a:srgbClr val="323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 autoAdjust="0"/>
    <p:restoredTop sz="91127" autoAdjust="0"/>
  </p:normalViewPr>
  <p:slideViewPr>
    <p:cSldViewPr snapToGrid="0">
      <p:cViewPr varScale="1">
        <p:scale>
          <a:sx n="96" d="100"/>
          <a:sy n="96" d="100"/>
        </p:scale>
        <p:origin x="200" y="5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250AD9-0FBF-006F-B6BD-6391DD1B26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E8040-1904-0C45-674F-A890979912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13FFA-349B-294F-A929-AFE1E82009B2}" type="datetimeFigureOut">
              <a:rPr lang="en-JP" smtClean="0"/>
              <a:t>4/6/26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A9F77-5875-C112-8AE0-D1A2483142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149A6-3780-A7BD-4984-B57D763411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42AF2-09CE-F74C-AF24-DD6316DE80A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38648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CCBB5-B4E2-E143-BEC7-23C2CA6D5F08}" type="datetimeFigureOut">
              <a:rPr lang="en-JP"/>
              <a:t>4/6/26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E417C-1FC7-4444-985E-D6FEF518242E}" type="slidenum">
              <a:rPr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6107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833C-587C-9574-E36D-0F784D94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34AF2-D8A9-C3A9-E257-8643C5247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B4907-C6B4-A9DD-328B-E01B2FA48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75060-85F1-B9D5-C084-2CE9390B5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592F-FD4C-4FCF-97BF-B837A466580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392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7B00-A056-B359-0440-023C949F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A075B-273E-E3BD-3A41-B52A55AB7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7E995-BDDB-B30B-D998-1510FCC9E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F7B53-2647-4120-89BB-DB1355B9B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592F-FD4C-4FCF-97BF-B837A466580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71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7B00-A056-B359-0440-023C949F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A075B-273E-E3BD-3A41-B52A55AB7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7E995-BDDB-B30B-D998-1510FCC9E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F7B53-2647-4120-89BB-DB1355B9B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592F-FD4C-4FCF-97BF-B837A46658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6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発表タイトル学部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">
            <a:extLst>
              <a:ext uri="{FF2B5EF4-FFF2-40B4-BE49-F238E27FC236}">
                <a16:creationId xmlns:a16="http://schemas.microsoft.com/office/drawing/2014/main" id="{EDAD2706-CD5F-A65D-BCB7-2B5AB21D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7644" y="803740"/>
            <a:ext cx="27432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5/31/25</a:t>
            </a:r>
            <a:endParaRPr lang="en-US" dirty="0"/>
          </a:p>
        </p:txBody>
      </p:sp>
      <p:sp>
        <p:nvSpPr>
          <p:cNvPr id="11" name="著者名">
            <a:extLst>
              <a:ext uri="{FF2B5EF4-FFF2-40B4-BE49-F238E27FC236}">
                <a16:creationId xmlns:a16="http://schemas.microsoft.com/office/drawing/2014/main" id="{B7658F9C-256F-D25F-A1EE-03FAB728C3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8312" y="4828744"/>
            <a:ext cx="11149242" cy="3127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spc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179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r>
              <a:rPr lang="ja-JP" altLang="en-US" dirty="0"/>
              <a:t>発表者氏名</a:t>
            </a:r>
            <a:r>
              <a:rPr lang="en-US" altLang="ja-JP" dirty="0"/>
              <a:t>1</a:t>
            </a:r>
            <a:r>
              <a:rPr lang="ja-JP" altLang="en-US" dirty="0"/>
              <a:t>、○発表者氏名</a:t>
            </a:r>
            <a:r>
              <a:rPr lang="en-US" altLang="ja-JP" dirty="0"/>
              <a:t>2</a:t>
            </a:r>
            <a:r>
              <a:rPr lang="ja-JP" altLang="en-US" dirty="0"/>
              <a:t>、発表者氏名</a:t>
            </a:r>
            <a:r>
              <a:rPr lang="en-US" altLang="ja-JP" dirty="0"/>
              <a:t>3  (</a:t>
            </a:r>
            <a:r>
              <a:rPr lang="ja-JP" altLang="en-US" dirty="0"/>
              <a:t>著者順、発表者の前に○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3" name="発表サブタイトル">
            <a:extLst>
              <a:ext uri="{FF2B5EF4-FFF2-40B4-BE49-F238E27FC236}">
                <a16:creationId xmlns:a16="http://schemas.microsoft.com/office/drawing/2014/main" id="{A68AF429-5F60-CD1F-C92A-F9060D8CB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57644" y="4186587"/>
            <a:ext cx="11149910" cy="4272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800">
                <a:latin typeface="+mj-ea"/>
                <a:ea typeface="+mj-ea"/>
              </a:defRPr>
            </a:lvl1pPr>
            <a:lvl2pPr marL="457179" indent="0" algn="ctr">
              <a:buNone/>
              <a:defRPr sz="2000"/>
            </a:lvl2pPr>
            <a:lvl3pPr marL="914358" indent="0" algn="ctr">
              <a:buNone/>
              <a:defRPr sz="1800"/>
            </a:lvl3pPr>
            <a:lvl4pPr marL="1371537" indent="0" algn="ctr">
              <a:buNone/>
              <a:defRPr sz="1600"/>
            </a:lvl4pPr>
            <a:lvl5pPr marL="1828716" indent="0" algn="ctr">
              <a:buNone/>
              <a:defRPr sz="1600"/>
            </a:lvl5pPr>
            <a:lvl6pPr marL="2285895" indent="0" algn="ctr">
              <a:buNone/>
              <a:defRPr sz="1600"/>
            </a:lvl6pPr>
            <a:lvl7pPr marL="2743074" indent="0" algn="ctr">
              <a:buNone/>
              <a:defRPr sz="1600"/>
            </a:lvl7pPr>
            <a:lvl8pPr marL="3200253" indent="0" algn="ctr">
              <a:buNone/>
              <a:defRPr sz="1600"/>
            </a:lvl8pPr>
            <a:lvl9pPr marL="3657432" indent="0" algn="ctr">
              <a:buNone/>
              <a:defRPr sz="1600"/>
            </a:lvl9pPr>
          </a:lstStyle>
          <a:p>
            <a:r>
              <a:rPr lang="ja-JP" altLang="en-US" dirty="0"/>
              <a:t>副題</a:t>
            </a:r>
            <a:endParaRPr lang="en-US" dirty="0"/>
          </a:p>
        </p:txBody>
      </p:sp>
      <p:sp>
        <p:nvSpPr>
          <p:cNvPr id="2" name="発表メインタイトル">
            <a:extLst>
              <a:ext uri="{FF2B5EF4-FFF2-40B4-BE49-F238E27FC236}">
                <a16:creationId xmlns:a16="http://schemas.microsoft.com/office/drawing/2014/main" id="{19BFCA81-FC17-5660-1B43-D71E9D807D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8312" y="2848285"/>
            <a:ext cx="11149242" cy="1161429"/>
          </a:xfrm>
        </p:spPr>
        <p:txBody>
          <a:bodyPr lIns="0" tIns="0" rIns="0" bIns="0" anchor="ctr">
            <a:noAutofit/>
          </a:bodyPr>
          <a:lstStyle>
            <a:lvl1pPr algn="l">
              <a:defRPr sz="4000"/>
            </a:lvl1pPr>
          </a:lstStyle>
          <a:p>
            <a:r>
              <a:rPr lang="ja-JP" altLang="en-US" dirty="0"/>
              <a:t>題目</a:t>
            </a:r>
            <a:endParaRPr lang="en-US" dirty="0"/>
          </a:p>
        </p:txBody>
      </p:sp>
      <p:sp>
        <p:nvSpPr>
          <p:cNvPr id="7" name="アンカリングデバイス">
            <a:extLst>
              <a:ext uri="{FF2B5EF4-FFF2-40B4-BE49-F238E27FC236}">
                <a16:creationId xmlns:a16="http://schemas.microsoft.com/office/drawing/2014/main" id="{415F602A-38BA-F5E4-005F-C8D196AE798E}"/>
              </a:ext>
            </a:extLst>
          </p:cNvPr>
          <p:cNvSpPr/>
          <p:nvPr/>
        </p:nvSpPr>
        <p:spPr>
          <a:xfrm>
            <a:off x="0" y="2848285"/>
            <a:ext cx="443620" cy="2876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星野崇宏研究会ロゴ">
            <a:extLst>
              <a:ext uri="{FF2B5EF4-FFF2-40B4-BE49-F238E27FC236}">
                <a16:creationId xmlns:a16="http://schemas.microsoft.com/office/drawing/2014/main" id="{E2CA5035-D985-5656-668F-6A81156E4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6715" y="894248"/>
            <a:ext cx="3020839" cy="774574"/>
          </a:xfrm>
          <a:prstGeom prst="rect">
            <a:avLst/>
          </a:prstGeom>
        </p:spPr>
      </p:pic>
      <p:sp>
        <p:nvSpPr>
          <p:cNvPr id="12" name="宛先">
            <a:extLst>
              <a:ext uri="{FF2B5EF4-FFF2-40B4-BE49-F238E27FC236}">
                <a16:creationId xmlns:a16="http://schemas.microsoft.com/office/drawing/2014/main" id="{F5A64FEB-0020-72C4-6811-BA573FD51B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312" y="413591"/>
            <a:ext cx="4099170" cy="3127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 spc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179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学会名など</a:t>
            </a:r>
          </a:p>
        </p:txBody>
      </p:sp>
      <p:sp>
        <p:nvSpPr>
          <p:cNvPr id="10" name="著者名">
            <a:extLst>
              <a:ext uri="{FF2B5EF4-FFF2-40B4-BE49-F238E27FC236}">
                <a16:creationId xmlns:a16="http://schemas.microsoft.com/office/drawing/2014/main" id="{3885E968-2FEA-2085-8BC9-EF678DEE19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312" y="5401456"/>
            <a:ext cx="11149242" cy="3127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spc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179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dirty="0"/>
              <a:t>所属</a:t>
            </a:r>
            <a:endParaRPr lang="en-US" dirty="0"/>
          </a:p>
        </p:txBody>
      </p: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255843-9BEC-EF9E-B576-423FE32B2A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6715" y="277796"/>
            <a:ext cx="2895954" cy="77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1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発表タイトル院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">
            <a:extLst>
              <a:ext uri="{FF2B5EF4-FFF2-40B4-BE49-F238E27FC236}">
                <a16:creationId xmlns:a16="http://schemas.microsoft.com/office/drawing/2014/main" id="{EDAD2706-CD5F-A65D-BCB7-2B5AB21D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7644" y="864844"/>
            <a:ext cx="27432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5/31/25</a:t>
            </a:r>
            <a:endParaRPr lang="en-US" dirty="0"/>
          </a:p>
        </p:txBody>
      </p:sp>
      <p:sp>
        <p:nvSpPr>
          <p:cNvPr id="11" name="著者名">
            <a:extLst>
              <a:ext uri="{FF2B5EF4-FFF2-40B4-BE49-F238E27FC236}">
                <a16:creationId xmlns:a16="http://schemas.microsoft.com/office/drawing/2014/main" id="{B7658F9C-256F-D25F-A1EE-03FAB728C3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8312" y="4828744"/>
            <a:ext cx="11149242" cy="3127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spc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179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r>
              <a:rPr lang="ja-JP" altLang="en-US" dirty="0"/>
              <a:t>発表者氏名</a:t>
            </a:r>
            <a:r>
              <a:rPr lang="en-US" altLang="ja-JP" dirty="0"/>
              <a:t>1</a:t>
            </a:r>
            <a:r>
              <a:rPr lang="ja-JP" altLang="en-US" dirty="0"/>
              <a:t>、○発表者氏名</a:t>
            </a:r>
            <a:r>
              <a:rPr lang="en-US" altLang="ja-JP" dirty="0"/>
              <a:t>2</a:t>
            </a:r>
            <a:r>
              <a:rPr lang="ja-JP" altLang="en-US" dirty="0"/>
              <a:t>、発表者氏名</a:t>
            </a:r>
            <a:r>
              <a:rPr lang="en-US" altLang="ja-JP" dirty="0"/>
              <a:t>3  (</a:t>
            </a:r>
            <a:r>
              <a:rPr lang="ja-JP" altLang="en-US" dirty="0"/>
              <a:t>著者順、発表者の前に○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3" name="発表サブタイトル">
            <a:extLst>
              <a:ext uri="{FF2B5EF4-FFF2-40B4-BE49-F238E27FC236}">
                <a16:creationId xmlns:a16="http://schemas.microsoft.com/office/drawing/2014/main" id="{A68AF429-5F60-CD1F-C92A-F9060D8CB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57644" y="4186587"/>
            <a:ext cx="11149910" cy="4272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800">
                <a:latin typeface="+mj-ea"/>
                <a:ea typeface="+mj-ea"/>
              </a:defRPr>
            </a:lvl1pPr>
            <a:lvl2pPr marL="457179" indent="0" algn="ctr">
              <a:buNone/>
              <a:defRPr sz="2000"/>
            </a:lvl2pPr>
            <a:lvl3pPr marL="914358" indent="0" algn="ctr">
              <a:buNone/>
              <a:defRPr sz="1800"/>
            </a:lvl3pPr>
            <a:lvl4pPr marL="1371537" indent="0" algn="ctr">
              <a:buNone/>
              <a:defRPr sz="1600"/>
            </a:lvl4pPr>
            <a:lvl5pPr marL="1828716" indent="0" algn="ctr">
              <a:buNone/>
              <a:defRPr sz="1600"/>
            </a:lvl5pPr>
            <a:lvl6pPr marL="2285895" indent="0" algn="ctr">
              <a:buNone/>
              <a:defRPr sz="1600"/>
            </a:lvl6pPr>
            <a:lvl7pPr marL="2743074" indent="0" algn="ctr">
              <a:buNone/>
              <a:defRPr sz="1600"/>
            </a:lvl7pPr>
            <a:lvl8pPr marL="3200253" indent="0" algn="ctr">
              <a:buNone/>
              <a:defRPr sz="1600"/>
            </a:lvl8pPr>
            <a:lvl9pPr marL="3657432" indent="0" algn="ctr">
              <a:buNone/>
              <a:defRPr sz="1600"/>
            </a:lvl9pPr>
          </a:lstStyle>
          <a:p>
            <a:r>
              <a:rPr lang="ja-JP" altLang="en-US" dirty="0"/>
              <a:t>副題</a:t>
            </a:r>
            <a:endParaRPr lang="en-US" dirty="0"/>
          </a:p>
        </p:txBody>
      </p:sp>
      <p:sp>
        <p:nvSpPr>
          <p:cNvPr id="2" name="発表メインタイトル">
            <a:extLst>
              <a:ext uri="{FF2B5EF4-FFF2-40B4-BE49-F238E27FC236}">
                <a16:creationId xmlns:a16="http://schemas.microsoft.com/office/drawing/2014/main" id="{19BFCA81-FC17-5660-1B43-D71E9D807D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8312" y="2848285"/>
            <a:ext cx="11149242" cy="1161429"/>
          </a:xfrm>
        </p:spPr>
        <p:txBody>
          <a:bodyPr lIns="0" tIns="0" rIns="0" bIns="0" anchor="ctr">
            <a:noAutofit/>
          </a:bodyPr>
          <a:lstStyle>
            <a:lvl1pPr algn="l">
              <a:defRPr sz="4000"/>
            </a:lvl1pPr>
          </a:lstStyle>
          <a:p>
            <a:r>
              <a:rPr lang="ja-JP" altLang="en-US" dirty="0"/>
              <a:t>題目</a:t>
            </a:r>
            <a:endParaRPr lang="en-US" dirty="0"/>
          </a:p>
        </p:txBody>
      </p:sp>
      <p:sp>
        <p:nvSpPr>
          <p:cNvPr id="7" name="アンカリングデバイス">
            <a:extLst>
              <a:ext uri="{FF2B5EF4-FFF2-40B4-BE49-F238E27FC236}">
                <a16:creationId xmlns:a16="http://schemas.microsoft.com/office/drawing/2014/main" id="{415F602A-38BA-F5E4-005F-C8D196AE798E}"/>
              </a:ext>
            </a:extLst>
          </p:cNvPr>
          <p:cNvSpPr/>
          <p:nvPr/>
        </p:nvSpPr>
        <p:spPr>
          <a:xfrm>
            <a:off x="0" y="2848285"/>
            <a:ext cx="443620" cy="2876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宛先">
            <a:extLst>
              <a:ext uri="{FF2B5EF4-FFF2-40B4-BE49-F238E27FC236}">
                <a16:creationId xmlns:a16="http://schemas.microsoft.com/office/drawing/2014/main" id="{F5A64FEB-0020-72C4-6811-BA573FD51B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312" y="413591"/>
            <a:ext cx="4099170" cy="3127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 spc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179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学会名など</a:t>
            </a:r>
          </a:p>
        </p:txBody>
      </p:sp>
      <p:sp>
        <p:nvSpPr>
          <p:cNvPr id="10" name="著者名">
            <a:extLst>
              <a:ext uri="{FF2B5EF4-FFF2-40B4-BE49-F238E27FC236}">
                <a16:creationId xmlns:a16="http://schemas.microsoft.com/office/drawing/2014/main" id="{3885E968-2FEA-2085-8BC9-EF678DEE19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312" y="5401456"/>
            <a:ext cx="11149242" cy="3127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spc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179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dirty="0"/>
              <a:t>所属</a:t>
            </a:r>
            <a:endParaRPr lang="en-US" dirty="0"/>
          </a:p>
        </p:txBody>
      </p:sp>
      <p:pic>
        <p:nvPicPr>
          <p:cNvPr id="9" name="Picture 8" descr="A person holding a blue object&#10;&#10;Description automatically generated">
            <a:extLst>
              <a:ext uri="{FF2B5EF4-FFF2-40B4-BE49-F238E27FC236}">
                <a16:creationId xmlns:a16="http://schemas.microsoft.com/office/drawing/2014/main" id="{805056DE-169D-E93D-BCD5-590B24C11F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414" y="884771"/>
            <a:ext cx="2895954" cy="1254424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DAC24EA-AE6A-245C-FBA0-7D5331A051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3668" y="413591"/>
            <a:ext cx="2895954" cy="77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3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発表タイトルその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発表メインタイトル">
            <a:extLst>
              <a:ext uri="{FF2B5EF4-FFF2-40B4-BE49-F238E27FC236}">
                <a16:creationId xmlns:a16="http://schemas.microsoft.com/office/drawing/2014/main" id="{19BFCA81-FC17-5660-1B43-D71E9D807D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310" y="1894750"/>
            <a:ext cx="11149242" cy="929473"/>
          </a:xfrm>
        </p:spPr>
        <p:txBody>
          <a:bodyPr lIns="0" tIns="0" rIns="0" bIns="0" anchor="ctr">
            <a:noAutofit/>
          </a:bodyPr>
          <a:lstStyle>
            <a:lvl1pPr algn="ctr">
              <a:defRPr sz="3600">
                <a:solidFill>
                  <a:srgbClr val="3333B3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en-US" altLang="ja-JP" dirty="0"/>
              <a:t>Title</a:t>
            </a:r>
            <a:endParaRPr lang="en-US" dirty="0"/>
          </a:p>
        </p:txBody>
      </p:sp>
      <p:sp>
        <p:nvSpPr>
          <p:cNvPr id="16" name="フリーフォーム 15">
            <a:extLst>
              <a:ext uri="{FF2B5EF4-FFF2-40B4-BE49-F238E27FC236}">
                <a16:creationId xmlns:a16="http://schemas.microsoft.com/office/drawing/2014/main" id="{4BE859D3-82D7-3CEF-4FAE-93223A3318A4}"/>
              </a:ext>
            </a:extLst>
          </p:cNvPr>
          <p:cNvSpPr/>
          <p:nvPr userDrawn="1"/>
        </p:nvSpPr>
        <p:spPr>
          <a:xfrm>
            <a:off x="2150515" y="5214714"/>
            <a:ext cx="24274" cy="2284"/>
          </a:xfrm>
          <a:custGeom>
            <a:avLst/>
            <a:gdLst>
              <a:gd name="connsiteX0" fmla="*/ 24274 w 24274"/>
              <a:gd name="connsiteY0" fmla="*/ 0 h 2284"/>
              <a:gd name="connsiteX1" fmla="*/ 24274 w 24274"/>
              <a:gd name="connsiteY1" fmla="*/ 2284 h 2284"/>
              <a:gd name="connsiteX2" fmla="*/ 0 w 24274"/>
              <a:gd name="connsiteY2" fmla="*/ 2284 h 2284"/>
              <a:gd name="connsiteX3" fmla="*/ 24274 w 24274"/>
              <a:gd name="connsiteY3" fmla="*/ 0 h 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74" h="2284">
                <a:moveTo>
                  <a:pt x="24274" y="0"/>
                </a:moveTo>
                <a:lnTo>
                  <a:pt x="24274" y="2284"/>
                </a:lnTo>
                <a:lnTo>
                  <a:pt x="0" y="2284"/>
                </a:lnTo>
                <a:lnTo>
                  <a:pt x="24274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E6F8879-2A17-6157-140D-70150922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80"/>
            <a:ext cx="12192000" cy="236209"/>
          </a:xfrm>
          <a:prstGeom prst="rect">
            <a:avLst/>
          </a:prstGeom>
        </p:spPr>
      </p:pic>
      <p:sp>
        <p:nvSpPr>
          <p:cNvPr id="18" name="発表サブタイトル">
            <a:extLst>
              <a:ext uri="{FF2B5EF4-FFF2-40B4-BE49-F238E27FC236}">
                <a16:creationId xmlns:a16="http://schemas.microsoft.com/office/drawing/2014/main" id="{B70CB2E4-800D-D222-9433-F265669F1F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56976" y="3088814"/>
            <a:ext cx="11149910" cy="4272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>
                <a:solidFill>
                  <a:srgbClr val="3333B3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 dirty="0"/>
              <a:t>―sub title―</a:t>
            </a:r>
            <a:endParaRPr lang="en-US" dirty="0"/>
          </a:p>
        </p:txBody>
      </p:sp>
      <p:sp>
        <p:nvSpPr>
          <p:cNvPr id="30" name="テキスト プレースホルダー 29">
            <a:extLst>
              <a:ext uri="{FF2B5EF4-FFF2-40B4-BE49-F238E27FC236}">
                <a16:creationId xmlns:a16="http://schemas.microsoft.com/office/drawing/2014/main" id="{116F2C3E-133D-5B33-1E2B-540D1C7A5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7250" y="3911600"/>
            <a:ext cx="11149013" cy="428625"/>
          </a:xfrm>
        </p:spPr>
        <p:txBody>
          <a:bodyPr/>
          <a:lstStyle>
            <a:lvl1pPr marL="0" indent="0" algn="ctr">
              <a:buNone/>
              <a:defRPr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/>
              <a:t>名前</a:t>
            </a:r>
          </a:p>
        </p:txBody>
      </p:sp>
      <p:sp>
        <p:nvSpPr>
          <p:cNvPr id="31" name="テキスト プレースホルダー 29">
            <a:extLst>
              <a:ext uri="{FF2B5EF4-FFF2-40B4-BE49-F238E27FC236}">
                <a16:creationId xmlns:a16="http://schemas.microsoft.com/office/drawing/2014/main" id="{FEB6210D-23CD-18D9-12DE-00A8F6937A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7250" y="4481484"/>
            <a:ext cx="11149013" cy="307089"/>
          </a:xfrm>
        </p:spPr>
        <p:txBody>
          <a:bodyPr/>
          <a:lstStyle>
            <a:lvl1pPr marL="0" indent="0" algn="ctr">
              <a:buNone/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/>
              <a:t>所属</a:t>
            </a:r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A5DF17E3-16DB-AE07-F09A-2A4AC10C0B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7250" y="5040417"/>
            <a:ext cx="11149013" cy="307088"/>
          </a:xfrm>
        </p:spPr>
        <p:txBody>
          <a:bodyPr/>
          <a:lstStyle>
            <a:lvl1pPr marL="0" indent="0" algn="ctr">
              <a:buNone/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/>
              <a:t>日時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1CC95C-0A63-0037-4178-BB8D62860F07}"/>
              </a:ext>
            </a:extLst>
          </p:cNvPr>
          <p:cNvGrpSpPr/>
          <p:nvPr userDrawn="1"/>
        </p:nvGrpSpPr>
        <p:grpSpPr>
          <a:xfrm>
            <a:off x="0" y="6633656"/>
            <a:ext cx="12196360" cy="219750"/>
            <a:chOff x="-4363" y="6647659"/>
            <a:chExt cx="12196360" cy="219750"/>
          </a:xfrm>
        </p:grpSpPr>
        <p:sp>
          <p:nvSpPr>
            <p:cNvPr id="3" name="正方形/長方形 13">
              <a:extLst>
                <a:ext uri="{FF2B5EF4-FFF2-40B4-BE49-F238E27FC236}">
                  <a16:creationId xmlns:a16="http://schemas.microsoft.com/office/drawing/2014/main" id="{9163C65C-30FC-CB3D-85CB-E5A3329CB17B}"/>
                </a:ext>
              </a:extLst>
            </p:cNvPr>
            <p:cNvSpPr/>
            <p:nvPr userDrawn="1"/>
          </p:nvSpPr>
          <p:spPr>
            <a:xfrm>
              <a:off x="4052837" y="6647659"/>
              <a:ext cx="4086321" cy="219750"/>
            </a:xfrm>
            <a:prstGeom prst="rect">
              <a:avLst/>
            </a:prstGeom>
            <a:solidFill>
              <a:srgbClr val="2626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6" name="正方形/長方形 13">
              <a:extLst>
                <a:ext uri="{FF2B5EF4-FFF2-40B4-BE49-F238E27FC236}">
                  <a16:creationId xmlns:a16="http://schemas.microsoft.com/office/drawing/2014/main" id="{EB73605F-421E-2CAD-B327-39DB012E90F9}"/>
                </a:ext>
              </a:extLst>
            </p:cNvPr>
            <p:cNvSpPr/>
            <p:nvPr userDrawn="1"/>
          </p:nvSpPr>
          <p:spPr>
            <a:xfrm>
              <a:off x="-4363" y="6647809"/>
              <a:ext cx="4057200" cy="219600"/>
            </a:xfrm>
            <a:prstGeom prst="rect">
              <a:avLst/>
            </a:prstGeom>
            <a:solidFill>
              <a:srgbClr val="1A1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9" name="正方形/長方形 13">
              <a:extLst>
                <a:ext uri="{FF2B5EF4-FFF2-40B4-BE49-F238E27FC236}">
                  <a16:creationId xmlns:a16="http://schemas.microsoft.com/office/drawing/2014/main" id="{7F984A1E-CB4C-98F0-3DF8-B0A8E8561D61}"/>
                </a:ext>
              </a:extLst>
            </p:cNvPr>
            <p:cNvSpPr/>
            <p:nvPr userDrawn="1"/>
          </p:nvSpPr>
          <p:spPr>
            <a:xfrm>
              <a:off x="8134797" y="6647659"/>
              <a:ext cx="4057200" cy="219750"/>
            </a:xfrm>
            <a:prstGeom prst="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</p:grpSp>
      <p:sp>
        <p:nvSpPr>
          <p:cNvPr id="36" name="日付プレースホルダー 35">
            <a:extLst>
              <a:ext uri="{FF2B5EF4-FFF2-40B4-BE49-F238E27FC236}">
                <a16:creationId xmlns:a16="http://schemas.microsoft.com/office/drawing/2014/main" id="{DCFD25C2-3F48-E4D9-89A0-7B61D4C7608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148538" y="6639793"/>
            <a:ext cx="2096436" cy="202658"/>
          </a:xfrm>
          <a:ln>
            <a:noFill/>
          </a:ln>
        </p:spPr>
        <p:txBody>
          <a:bodyPr/>
          <a:lstStyle>
            <a:lvl1pPr algn="ctr">
              <a:defRPr sz="130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en-US" altLang="ja-JP"/>
              <a:t>5/31/25</a:t>
            </a:r>
            <a:endParaRPr lang="en-US" dirty="0"/>
          </a:p>
        </p:txBody>
      </p:sp>
      <p:sp>
        <p:nvSpPr>
          <p:cNvPr id="38" name="スライド番号プレースホルダー 37">
            <a:extLst>
              <a:ext uri="{FF2B5EF4-FFF2-40B4-BE49-F238E27FC236}">
                <a16:creationId xmlns:a16="http://schemas.microsoft.com/office/drawing/2014/main" id="{7CA1FE0B-5E04-ECAB-6242-853C39FCC7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44974" y="6647379"/>
            <a:ext cx="775144" cy="18411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457CD5BC-720A-4358-BE3E-D8A8CC9CD3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person holding a blue object&#10;&#10;Description automatically generated">
            <a:extLst>
              <a:ext uri="{FF2B5EF4-FFF2-40B4-BE49-F238E27FC236}">
                <a16:creationId xmlns:a16="http://schemas.microsoft.com/office/drawing/2014/main" id="{6C76FEA4-6634-137B-55B5-91B2246BC5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414" y="884771"/>
            <a:ext cx="2895954" cy="1254424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07674D4-0811-4554-A24B-029B55FF8D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3668" y="413591"/>
            <a:ext cx="2895954" cy="77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7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DE6F8879-2A17-6157-140D-70150922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80"/>
            <a:ext cx="12192000" cy="236209"/>
          </a:xfrm>
          <a:prstGeom prst="rect">
            <a:avLst/>
          </a:prstGeom>
        </p:spPr>
      </p:pic>
      <p:sp>
        <p:nvSpPr>
          <p:cNvPr id="6" name="該当セクション">
            <a:extLst>
              <a:ext uri="{FF2B5EF4-FFF2-40B4-BE49-F238E27FC236}">
                <a16:creationId xmlns:a16="http://schemas.microsoft.com/office/drawing/2014/main" id="{9D5752E7-6753-BEDB-9FF5-7E13518AB2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01" y="12018"/>
            <a:ext cx="5628134" cy="214731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ja-JP" altLang="en-US"/>
              <a:t>該当セクション</a:t>
            </a:r>
            <a:endParaRPr lang="en-US" dirty="0"/>
          </a:p>
        </p:txBody>
      </p:sp>
      <p:sp>
        <p:nvSpPr>
          <p:cNvPr id="2" name="コンテンツ">
            <a:extLst>
              <a:ext uri="{FF2B5EF4-FFF2-40B4-BE49-F238E27FC236}">
                <a16:creationId xmlns:a16="http://schemas.microsoft.com/office/drawing/2014/main" id="{C892D76F-AD7F-7522-EF76-5DFA7CCE0B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486" y="1135959"/>
            <a:ext cx="10739313" cy="1780862"/>
          </a:xfrm>
        </p:spPr>
        <p:txBody>
          <a:bodyPr lIns="0" tIns="0" rIns="0" bIns="0">
            <a:noAutofit/>
          </a:bodyPr>
          <a:lstStyle>
            <a:lvl1pPr>
              <a:defRPr sz="2400">
                <a:latin typeface="+mn-ea"/>
                <a:ea typeface="+mn-ea"/>
              </a:defRPr>
            </a:lvl1pPr>
            <a:lvl2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2pPr>
            <a:lvl3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3pPr>
            <a:lvl4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4pPr>
            <a:lvl5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キーメッセージの根拠・説明</a:t>
            </a:r>
            <a:endParaRPr lang="en-US" altLang="ja-JP" dirty="0"/>
          </a:p>
          <a:p>
            <a:pPr lvl="0"/>
            <a:endParaRPr lang="en-US" altLang="ja-JP" dirty="0"/>
          </a:p>
        </p:txBody>
      </p:sp>
      <p:sp>
        <p:nvSpPr>
          <p:cNvPr id="16" name="キーメッセージ">
            <a:extLst>
              <a:ext uri="{FF2B5EF4-FFF2-40B4-BE49-F238E27FC236}">
                <a16:creationId xmlns:a16="http://schemas.microsoft.com/office/drawing/2014/main" id="{2C450E28-BF1D-8438-DF1C-0250FE50C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776" y="404067"/>
            <a:ext cx="11101024" cy="485569"/>
          </a:xfrm>
        </p:spPr>
        <p:txBody>
          <a:bodyPr lIns="0" tIns="0" rIns="0" bIns="0">
            <a:noAutofit/>
          </a:bodyPr>
          <a:lstStyle>
            <a:lvl1pPr>
              <a:defRPr sz="2800" b="1">
                <a:solidFill>
                  <a:srgbClr val="3333B3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/>
              <a:t>キーメッセージ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1387BD0-4473-FFAC-D8EC-240CE3BF6DB6}"/>
              </a:ext>
            </a:extLst>
          </p:cNvPr>
          <p:cNvGrpSpPr/>
          <p:nvPr userDrawn="1"/>
        </p:nvGrpSpPr>
        <p:grpSpPr>
          <a:xfrm>
            <a:off x="0" y="6647379"/>
            <a:ext cx="12196360" cy="219750"/>
            <a:chOff x="-4363" y="6647659"/>
            <a:chExt cx="12196360" cy="219750"/>
          </a:xfrm>
        </p:grpSpPr>
        <p:sp>
          <p:nvSpPr>
            <p:cNvPr id="26" name="正方形/長方形 13">
              <a:extLst>
                <a:ext uri="{FF2B5EF4-FFF2-40B4-BE49-F238E27FC236}">
                  <a16:creationId xmlns:a16="http://schemas.microsoft.com/office/drawing/2014/main" id="{EF8BDA01-CF45-FB35-7BB2-74FE3A50469B}"/>
                </a:ext>
              </a:extLst>
            </p:cNvPr>
            <p:cNvSpPr/>
            <p:nvPr userDrawn="1"/>
          </p:nvSpPr>
          <p:spPr>
            <a:xfrm>
              <a:off x="4052837" y="6647659"/>
              <a:ext cx="4086321" cy="219750"/>
            </a:xfrm>
            <a:prstGeom prst="rect">
              <a:avLst/>
            </a:prstGeom>
            <a:solidFill>
              <a:srgbClr val="2626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27" name="正方形/長方形 13">
              <a:extLst>
                <a:ext uri="{FF2B5EF4-FFF2-40B4-BE49-F238E27FC236}">
                  <a16:creationId xmlns:a16="http://schemas.microsoft.com/office/drawing/2014/main" id="{52B05E6B-C005-3E2A-7613-973E194F18D4}"/>
                </a:ext>
              </a:extLst>
            </p:cNvPr>
            <p:cNvSpPr/>
            <p:nvPr userDrawn="1"/>
          </p:nvSpPr>
          <p:spPr>
            <a:xfrm>
              <a:off x="-4363" y="6647809"/>
              <a:ext cx="4057200" cy="219600"/>
            </a:xfrm>
            <a:prstGeom prst="rect">
              <a:avLst/>
            </a:prstGeom>
            <a:solidFill>
              <a:srgbClr val="1A1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28" name="正方形/長方形 13">
              <a:extLst>
                <a:ext uri="{FF2B5EF4-FFF2-40B4-BE49-F238E27FC236}">
                  <a16:creationId xmlns:a16="http://schemas.microsoft.com/office/drawing/2014/main" id="{B65B78C7-3EF4-1A4E-E157-F302748274E6}"/>
                </a:ext>
              </a:extLst>
            </p:cNvPr>
            <p:cNvSpPr/>
            <p:nvPr userDrawn="1"/>
          </p:nvSpPr>
          <p:spPr>
            <a:xfrm>
              <a:off x="8134797" y="6647659"/>
              <a:ext cx="4057200" cy="219750"/>
            </a:xfrm>
            <a:prstGeom prst="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</p:grpSp>
      <p:sp>
        <p:nvSpPr>
          <p:cNvPr id="29" name="日付プレースホルダー 35">
            <a:extLst>
              <a:ext uri="{FF2B5EF4-FFF2-40B4-BE49-F238E27FC236}">
                <a16:creationId xmlns:a16="http://schemas.microsoft.com/office/drawing/2014/main" id="{8B771B16-CA95-DE8C-9E64-BB816CC54669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148538" y="6639793"/>
            <a:ext cx="2096436" cy="202658"/>
          </a:xfrm>
          <a:ln>
            <a:noFill/>
          </a:ln>
        </p:spPr>
        <p:txBody>
          <a:bodyPr/>
          <a:lstStyle>
            <a:lvl1pPr algn="ctr">
              <a:defRPr sz="130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en-US" altLang="ja-JP"/>
              <a:t>5/31/25</a:t>
            </a:r>
            <a:endParaRPr lang="en-US" dirty="0"/>
          </a:p>
        </p:txBody>
      </p:sp>
      <p:sp>
        <p:nvSpPr>
          <p:cNvPr id="32" name="フッター">
            <a:extLst>
              <a:ext uri="{FF2B5EF4-FFF2-40B4-BE49-F238E27FC236}">
                <a16:creationId xmlns:a16="http://schemas.microsoft.com/office/drawing/2014/main" id="{AF8DEDAE-E769-AAD9-9698-96AC77EB1A7D}"/>
              </a:ext>
            </a:extLst>
          </p:cNvPr>
          <p:cNvSpPr txBox="1">
            <a:spLocks/>
          </p:cNvSpPr>
          <p:nvPr userDrawn="1"/>
        </p:nvSpPr>
        <p:spPr>
          <a:xfrm>
            <a:off x="82629" y="6631609"/>
            <a:ext cx="4010367" cy="2197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400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 sz="1300" b="1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0" name="スライド番号プレースホルダー 37">
            <a:extLst>
              <a:ext uri="{FF2B5EF4-FFF2-40B4-BE49-F238E27FC236}">
                <a16:creationId xmlns:a16="http://schemas.microsoft.com/office/drawing/2014/main" id="{6C379069-D296-51A3-488E-F4E5B46CD2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44974" y="6647379"/>
            <a:ext cx="775144" cy="18411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57CD5BC-720A-4358-BE3E-D8A8CC9CD3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フッター">
            <a:extLst>
              <a:ext uri="{FF2B5EF4-FFF2-40B4-BE49-F238E27FC236}">
                <a16:creationId xmlns:a16="http://schemas.microsoft.com/office/drawing/2014/main" id="{EAEF6883-8C80-ED73-B914-D8A8E9EDC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5377" y="6631384"/>
            <a:ext cx="4010367" cy="2197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algn="ctr">
              <a:defRPr lang="en-US" sz="1300" b="0" kern="1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+mn-cs"/>
              </a:defRPr>
            </a:lvl1pPr>
          </a:lstStyle>
          <a:p>
            <a:r>
              <a:rPr lang="ja-JP" altLang="en-US"/>
              <a:t>データ統合モデルとその応用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16084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DE6F8879-2A17-6157-140D-70150922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80"/>
            <a:ext cx="12192000" cy="236209"/>
          </a:xfrm>
          <a:prstGeom prst="rect">
            <a:avLst/>
          </a:prstGeom>
        </p:spPr>
      </p:pic>
      <p:sp>
        <p:nvSpPr>
          <p:cNvPr id="6" name="該当セクション">
            <a:extLst>
              <a:ext uri="{FF2B5EF4-FFF2-40B4-BE49-F238E27FC236}">
                <a16:creationId xmlns:a16="http://schemas.microsoft.com/office/drawing/2014/main" id="{9D5752E7-6753-BEDB-9FF5-7E13518AB2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01" y="12018"/>
            <a:ext cx="5628134" cy="214731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ja-JP" altLang="en-US"/>
              <a:t>該当セクション</a:t>
            </a:r>
            <a:endParaRPr lang="en-US" dirty="0"/>
          </a:p>
        </p:txBody>
      </p:sp>
      <p:sp>
        <p:nvSpPr>
          <p:cNvPr id="2" name="コンテンツ">
            <a:extLst>
              <a:ext uri="{FF2B5EF4-FFF2-40B4-BE49-F238E27FC236}">
                <a16:creationId xmlns:a16="http://schemas.microsoft.com/office/drawing/2014/main" id="{C892D76F-AD7F-7522-EF76-5DFA7CCE0B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487" y="1423686"/>
            <a:ext cx="5393748" cy="4298355"/>
          </a:xfrm>
        </p:spPr>
        <p:txBody>
          <a:bodyPr lIns="0" tIns="0" rIns="0" bIns="0">
            <a:noAutofit/>
          </a:bodyPr>
          <a:lstStyle>
            <a:lvl1pPr>
              <a:defRPr sz="2400">
                <a:latin typeface="+mn-lt"/>
                <a:ea typeface="MS PGothic" panose="020B0600070205080204" pitchFamily="34" charset="-128"/>
              </a:defRPr>
            </a:lvl1pPr>
            <a:lvl2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2pPr>
            <a:lvl3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3pPr>
            <a:lvl4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4pPr>
            <a:lvl5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キーメッセージの根拠・説明</a:t>
            </a:r>
            <a:endParaRPr lang="en-US" altLang="ja-JP" dirty="0"/>
          </a:p>
          <a:p>
            <a:pPr lvl="0"/>
            <a:endParaRPr lang="en-US" altLang="ja-JP" dirty="0"/>
          </a:p>
        </p:txBody>
      </p:sp>
      <p:sp>
        <p:nvSpPr>
          <p:cNvPr id="3" name="コンテンツ">
            <a:extLst>
              <a:ext uri="{FF2B5EF4-FFF2-40B4-BE49-F238E27FC236}">
                <a16:creationId xmlns:a16="http://schemas.microsoft.com/office/drawing/2014/main" id="{5340D1AE-1F45-D0C7-F6B8-3EAA0C486E0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52767" y="1331089"/>
            <a:ext cx="5393748" cy="4390952"/>
          </a:xfrm>
        </p:spPr>
        <p:txBody>
          <a:bodyPr lIns="0" tIns="0" rIns="0" bIns="0">
            <a:noAutofit/>
          </a:bodyPr>
          <a:lstStyle>
            <a:lvl1pPr>
              <a:defRPr sz="2400">
                <a:latin typeface="+mn-lt"/>
                <a:ea typeface="MS PGothic" panose="020B0600070205080204" pitchFamily="34" charset="-128"/>
              </a:defRPr>
            </a:lvl1pPr>
            <a:lvl2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2pPr>
            <a:lvl3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3pPr>
            <a:lvl4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4pPr>
            <a:lvl5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キーメッセージの根拠・説明</a:t>
            </a:r>
            <a:endParaRPr lang="en-US" altLang="ja-JP" dirty="0"/>
          </a:p>
          <a:p>
            <a:pPr lvl="0"/>
            <a:endParaRPr lang="en-US" altLang="ja-JP" dirty="0"/>
          </a:p>
        </p:txBody>
      </p:sp>
      <p:sp>
        <p:nvSpPr>
          <p:cNvPr id="15" name="キーメッセージ">
            <a:extLst>
              <a:ext uri="{FF2B5EF4-FFF2-40B4-BE49-F238E27FC236}">
                <a16:creationId xmlns:a16="http://schemas.microsoft.com/office/drawing/2014/main" id="{BCF8C1B0-D1C5-A03C-05DD-D96C36E1C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776" y="404067"/>
            <a:ext cx="11101024" cy="485569"/>
          </a:xfrm>
        </p:spPr>
        <p:txBody>
          <a:bodyPr lIns="0" tIns="0" rIns="0" bIns="0">
            <a:noAutofit/>
          </a:bodyPr>
          <a:lstStyle>
            <a:lvl1pPr>
              <a:defRPr sz="2800" b="1">
                <a:solidFill>
                  <a:srgbClr val="3333B3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キーメッセージ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DB231B-D8AB-38F1-14EA-FBBB7C25837D}"/>
              </a:ext>
            </a:extLst>
          </p:cNvPr>
          <p:cNvGrpSpPr/>
          <p:nvPr userDrawn="1"/>
        </p:nvGrpSpPr>
        <p:grpSpPr>
          <a:xfrm>
            <a:off x="0" y="6633656"/>
            <a:ext cx="12196360" cy="219750"/>
            <a:chOff x="-4363" y="6647659"/>
            <a:chExt cx="12196360" cy="219750"/>
          </a:xfrm>
        </p:grpSpPr>
        <p:sp>
          <p:nvSpPr>
            <p:cNvPr id="25" name="正方形/長方形 13">
              <a:extLst>
                <a:ext uri="{FF2B5EF4-FFF2-40B4-BE49-F238E27FC236}">
                  <a16:creationId xmlns:a16="http://schemas.microsoft.com/office/drawing/2014/main" id="{D7078FCB-DA98-28E9-D012-104B056421EE}"/>
                </a:ext>
              </a:extLst>
            </p:cNvPr>
            <p:cNvSpPr/>
            <p:nvPr userDrawn="1"/>
          </p:nvSpPr>
          <p:spPr>
            <a:xfrm>
              <a:off x="4052837" y="6647659"/>
              <a:ext cx="4086321" cy="219750"/>
            </a:xfrm>
            <a:prstGeom prst="rect">
              <a:avLst/>
            </a:prstGeom>
            <a:solidFill>
              <a:srgbClr val="2626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26" name="正方形/長方形 13">
              <a:extLst>
                <a:ext uri="{FF2B5EF4-FFF2-40B4-BE49-F238E27FC236}">
                  <a16:creationId xmlns:a16="http://schemas.microsoft.com/office/drawing/2014/main" id="{56335E01-5F5D-F1A3-29D6-116D591BBB3F}"/>
                </a:ext>
              </a:extLst>
            </p:cNvPr>
            <p:cNvSpPr/>
            <p:nvPr userDrawn="1"/>
          </p:nvSpPr>
          <p:spPr>
            <a:xfrm>
              <a:off x="-4363" y="6647809"/>
              <a:ext cx="4057200" cy="219600"/>
            </a:xfrm>
            <a:prstGeom prst="rect">
              <a:avLst/>
            </a:prstGeom>
            <a:solidFill>
              <a:srgbClr val="1A1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27" name="正方形/長方形 13">
              <a:extLst>
                <a:ext uri="{FF2B5EF4-FFF2-40B4-BE49-F238E27FC236}">
                  <a16:creationId xmlns:a16="http://schemas.microsoft.com/office/drawing/2014/main" id="{657227B7-9D6A-B19E-80C1-8AB22ADECC86}"/>
                </a:ext>
              </a:extLst>
            </p:cNvPr>
            <p:cNvSpPr/>
            <p:nvPr userDrawn="1"/>
          </p:nvSpPr>
          <p:spPr>
            <a:xfrm>
              <a:off x="8134797" y="6647659"/>
              <a:ext cx="4057200" cy="219750"/>
            </a:xfrm>
            <a:prstGeom prst="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</p:grpSp>
      <p:sp>
        <p:nvSpPr>
          <p:cNvPr id="28" name="日付プレースホルダー 35">
            <a:extLst>
              <a:ext uri="{FF2B5EF4-FFF2-40B4-BE49-F238E27FC236}">
                <a16:creationId xmlns:a16="http://schemas.microsoft.com/office/drawing/2014/main" id="{E686EAC6-A1C5-FD9C-B70C-D24D3F39E28E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148538" y="6639793"/>
            <a:ext cx="2096436" cy="202658"/>
          </a:xfrm>
          <a:ln>
            <a:noFill/>
          </a:ln>
        </p:spPr>
        <p:txBody>
          <a:bodyPr/>
          <a:lstStyle>
            <a:lvl1pPr algn="ctr">
              <a:defRPr sz="130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en-US" altLang="ja-JP"/>
              <a:t>5/31/25</a:t>
            </a:r>
            <a:endParaRPr lang="en-US" dirty="0"/>
          </a:p>
        </p:txBody>
      </p:sp>
      <p:sp>
        <p:nvSpPr>
          <p:cNvPr id="29" name="スライド番号プレースホルダー 37">
            <a:extLst>
              <a:ext uri="{FF2B5EF4-FFF2-40B4-BE49-F238E27FC236}">
                <a16:creationId xmlns:a16="http://schemas.microsoft.com/office/drawing/2014/main" id="{9260DC45-4DB9-1055-3AD4-11B235A2D3B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44974" y="6647379"/>
            <a:ext cx="775144" cy="18411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457CD5BC-720A-4358-BE3E-D8A8CC9CD3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フッター">
            <a:extLst>
              <a:ext uri="{FF2B5EF4-FFF2-40B4-BE49-F238E27FC236}">
                <a16:creationId xmlns:a16="http://schemas.microsoft.com/office/drawing/2014/main" id="{D0CD34AC-260C-DEAB-822C-8FD9B1182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86321" y="6638250"/>
            <a:ext cx="4010367" cy="2197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algn="ctr">
              <a:defRPr sz="1300" b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ja-JP" altLang="en-US"/>
              <a:t>データ統合モデルとその応用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0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DE6F8879-2A17-6157-140D-70150922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80"/>
            <a:ext cx="12192000" cy="236209"/>
          </a:xfrm>
          <a:prstGeom prst="rect">
            <a:avLst/>
          </a:prstGeom>
        </p:spPr>
      </p:pic>
      <p:sp>
        <p:nvSpPr>
          <p:cNvPr id="5" name="キーメッセージ">
            <a:extLst>
              <a:ext uri="{FF2B5EF4-FFF2-40B4-BE49-F238E27FC236}">
                <a16:creationId xmlns:a16="http://schemas.microsoft.com/office/drawing/2014/main" id="{02A9347B-C854-E4B1-7BA9-DE0D2AA145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776" y="404067"/>
            <a:ext cx="11101024" cy="485569"/>
          </a:xfrm>
        </p:spPr>
        <p:txBody>
          <a:bodyPr lIns="0" tIns="0" rIns="0" bIns="0">
            <a:noAutofit/>
          </a:bodyPr>
          <a:lstStyle>
            <a:lvl1pPr>
              <a:defRPr sz="2800" b="1">
                <a:solidFill>
                  <a:srgbClr val="3333B3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 dirty="0"/>
              <a:t>参考文献</a:t>
            </a:r>
            <a:endParaRPr lang="en-US" dirty="0"/>
          </a:p>
        </p:txBody>
      </p:sp>
      <p:sp>
        <p:nvSpPr>
          <p:cNvPr id="6" name="該当セクション">
            <a:extLst>
              <a:ext uri="{FF2B5EF4-FFF2-40B4-BE49-F238E27FC236}">
                <a16:creationId xmlns:a16="http://schemas.microsoft.com/office/drawing/2014/main" id="{9D5752E7-6753-BEDB-9FF5-7E13518AB2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01" y="12018"/>
            <a:ext cx="5628134" cy="214731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ja-JP" altLang="en-US"/>
              <a:t>該当セクション</a:t>
            </a:r>
            <a:endParaRPr lang="en-US" dirty="0"/>
          </a:p>
        </p:txBody>
      </p:sp>
      <p:sp>
        <p:nvSpPr>
          <p:cNvPr id="2" name="コンテンツ">
            <a:extLst>
              <a:ext uri="{FF2B5EF4-FFF2-40B4-BE49-F238E27FC236}">
                <a16:creationId xmlns:a16="http://schemas.microsoft.com/office/drawing/2014/main" id="{C892D76F-AD7F-7522-EF76-5DFA7CCE0B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486" y="1135958"/>
            <a:ext cx="10739313" cy="4616659"/>
          </a:xfrm>
        </p:spPr>
        <p:txBody>
          <a:bodyPr lIns="0" tIns="0" rIns="0" bIns="0">
            <a:noAutofit/>
          </a:bodyPr>
          <a:lstStyle>
            <a:lvl1pPr marL="252000" indent="-1800000" algn="l">
              <a:spcAft>
                <a:spcPts val="1200"/>
              </a:spcAft>
              <a:buFont typeface="+mj-lt"/>
              <a:buNone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1pPr>
            <a:lvl2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2pPr>
            <a:lvl3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3pPr>
            <a:lvl4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4pPr>
            <a:lvl5pPr>
              <a:defRPr sz="2000">
                <a:latin typeface="MS PGothic" panose="020B0600070205080204" pitchFamily="34" charset="-128"/>
                <a:ea typeface="MS PGothic" panose="020B0600070205080204" pitchFamily="34" charset="-128"/>
              </a:defRPr>
            </a:lvl5pPr>
          </a:lstStyle>
          <a:p>
            <a:pPr lvl="0"/>
            <a:r>
              <a:rPr lang="en-US" altLang="ja-JP" dirty="0"/>
              <a:t>Ebner-Priemer, U. W., &amp; Trull, T. J. (2009). Ecological momentary assessment of mood disorders and mood dysregulation. Psychological Assessment, 21, 463-475. doi:10.1037/a0017075</a:t>
            </a:r>
          </a:p>
          <a:p>
            <a:pPr lvl="0"/>
            <a:r>
              <a:rPr lang="en-US" altLang="ja-JP" dirty="0"/>
              <a:t>Stephan, W. G. (1985). Intergroup relations. In G. Lindzey &amp; E. Aronson (Eds.), The handbook of social psychology (3rd ed., Vol. 2, pp. 599-658). New York: Random House.</a:t>
            </a:r>
          </a:p>
          <a:p>
            <a:pPr lvl="0"/>
            <a:r>
              <a:rPr lang="en-US" altLang="ja-JP" dirty="0"/>
              <a:t>Gray, P. (2010). Psychology (6th ed.). New York: Worth</a:t>
            </a:r>
          </a:p>
          <a:p>
            <a:pPr lvl="0"/>
            <a:endParaRPr lang="en-US" altLang="ja-JP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6D8728-6A04-E626-79B4-1982F625591C}"/>
              </a:ext>
            </a:extLst>
          </p:cNvPr>
          <p:cNvGrpSpPr/>
          <p:nvPr userDrawn="1"/>
        </p:nvGrpSpPr>
        <p:grpSpPr>
          <a:xfrm>
            <a:off x="0" y="6633656"/>
            <a:ext cx="12196360" cy="219750"/>
            <a:chOff x="-4363" y="6647659"/>
            <a:chExt cx="12196360" cy="219750"/>
          </a:xfrm>
        </p:grpSpPr>
        <p:sp>
          <p:nvSpPr>
            <p:cNvPr id="23" name="正方形/長方形 13">
              <a:extLst>
                <a:ext uri="{FF2B5EF4-FFF2-40B4-BE49-F238E27FC236}">
                  <a16:creationId xmlns:a16="http://schemas.microsoft.com/office/drawing/2014/main" id="{DDBFA17E-542D-2E8B-7446-3ED424E5CCE1}"/>
                </a:ext>
              </a:extLst>
            </p:cNvPr>
            <p:cNvSpPr/>
            <p:nvPr userDrawn="1"/>
          </p:nvSpPr>
          <p:spPr>
            <a:xfrm>
              <a:off x="4052837" y="6647659"/>
              <a:ext cx="4086321" cy="219750"/>
            </a:xfrm>
            <a:prstGeom prst="rect">
              <a:avLst/>
            </a:prstGeom>
            <a:solidFill>
              <a:srgbClr val="2626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24" name="正方形/長方形 13">
              <a:extLst>
                <a:ext uri="{FF2B5EF4-FFF2-40B4-BE49-F238E27FC236}">
                  <a16:creationId xmlns:a16="http://schemas.microsoft.com/office/drawing/2014/main" id="{51B8AB3C-74C4-C00A-CD49-A8F10B02D6C5}"/>
                </a:ext>
              </a:extLst>
            </p:cNvPr>
            <p:cNvSpPr/>
            <p:nvPr userDrawn="1"/>
          </p:nvSpPr>
          <p:spPr>
            <a:xfrm>
              <a:off x="-4363" y="6647809"/>
              <a:ext cx="4057200" cy="219600"/>
            </a:xfrm>
            <a:prstGeom prst="rect">
              <a:avLst/>
            </a:prstGeom>
            <a:solidFill>
              <a:srgbClr val="1A1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  <p:sp>
          <p:nvSpPr>
            <p:cNvPr id="25" name="正方形/長方形 13">
              <a:extLst>
                <a:ext uri="{FF2B5EF4-FFF2-40B4-BE49-F238E27FC236}">
                  <a16:creationId xmlns:a16="http://schemas.microsoft.com/office/drawing/2014/main" id="{EB0FD857-6180-D1D5-07E2-E347FD9C61C4}"/>
                </a:ext>
              </a:extLst>
            </p:cNvPr>
            <p:cNvSpPr/>
            <p:nvPr userDrawn="1"/>
          </p:nvSpPr>
          <p:spPr>
            <a:xfrm>
              <a:off x="8134797" y="6647659"/>
              <a:ext cx="4057200" cy="219750"/>
            </a:xfrm>
            <a:prstGeom prst="rect">
              <a:avLst/>
            </a:prstGeom>
            <a:solidFill>
              <a:srgbClr val="333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>
                <a:latin typeface="MS PGothic" panose="020B0600070205080204" pitchFamily="34" charset="-128"/>
                <a:ea typeface="MS PGothic" panose="020B0600070205080204" pitchFamily="34" charset="-128"/>
              </a:endParaRPr>
            </a:p>
          </p:txBody>
        </p:sp>
      </p:grpSp>
      <p:sp>
        <p:nvSpPr>
          <p:cNvPr id="26" name="日付プレースホルダー 35">
            <a:extLst>
              <a:ext uri="{FF2B5EF4-FFF2-40B4-BE49-F238E27FC236}">
                <a16:creationId xmlns:a16="http://schemas.microsoft.com/office/drawing/2014/main" id="{49CEA079-2628-74B4-2369-B38131516A3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148538" y="6639793"/>
            <a:ext cx="2096436" cy="202658"/>
          </a:xfrm>
          <a:ln>
            <a:noFill/>
          </a:ln>
        </p:spPr>
        <p:txBody>
          <a:bodyPr/>
          <a:lstStyle>
            <a:lvl1pPr algn="ctr">
              <a:defRPr sz="130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en-US" altLang="ja-JP"/>
              <a:t>5/31/25</a:t>
            </a:r>
            <a:endParaRPr lang="en-US" dirty="0"/>
          </a:p>
        </p:txBody>
      </p:sp>
      <p:sp>
        <p:nvSpPr>
          <p:cNvPr id="27" name="スライド番号プレースホルダー 37">
            <a:extLst>
              <a:ext uri="{FF2B5EF4-FFF2-40B4-BE49-F238E27FC236}">
                <a16:creationId xmlns:a16="http://schemas.microsoft.com/office/drawing/2014/main" id="{11178AF1-64BC-C0F0-AE59-6D644EC203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44974" y="6647379"/>
            <a:ext cx="775144" cy="18411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457CD5BC-720A-4358-BE3E-D8A8CC9CD3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フッター">
            <a:extLst>
              <a:ext uri="{FF2B5EF4-FFF2-40B4-BE49-F238E27FC236}">
                <a16:creationId xmlns:a16="http://schemas.microsoft.com/office/drawing/2014/main" id="{116BF271-3C13-D9B7-BF35-495C46423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86321" y="6638250"/>
            <a:ext cx="4010367" cy="2197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algn="ctr">
              <a:defRPr sz="1300" b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r>
              <a:rPr lang="ja-JP" altLang="en-US"/>
              <a:t>データ統合モデルとその応用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06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5/31/25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データ統合モデルとその応用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6502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9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">
            <a:extLst>
              <a:ext uri="{FF2B5EF4-FFF2-40B4-BE49-F238E27FC236}">
                <a16:creationId xmlns:a16="http://schemas.microsoft.com/office/drawing/2014/main" id="{423C31C1-E085-1EB0-18F1-7802C914C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5024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フッター">
            <a:extLst>
              <a:ext uri="{FF2B5EF4-FFF2-40B4-BE49-F238E27FC236}">
                <a16:creationId xmlns:a16="http://schemas.microsoft.com/office/drawing/2014/main" id="{9E48EADE-8576-116D-BE18-60D766857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データ統合モデルとその応用</a:t>
            </a:r>
            <a:endParaRPr lang="en-US" dirty="0"/>
          </a:p>
        </p:txBody>
      </p:sp>
      <p:sp>
        <p:nvSpPr>
          <p:cNvPr id="4" name="日付">
            <a:extLst>
              <a:ext uri="{FF2B5EF4-FFF2-40B4-BE49-F238E27FC236}">
                <a16:creationId xmlns:a16="http://schemas.microsoft.com/office/drawing/2014/main" id="{3649550D-6639-525F-E24C-D85DB0D63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3776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en-US"/>
              <a:t>5/31/25</a:t>
            </a:r>
            <a:endParaRPr lang="en-US" dirty="0"/>
          </a:p>
        </p:txBody>
      </p:sp>
      <p:sp>
        <p:nvSpPr>
          <p:cNvPr id="3" name="コンテンツ">
            <a:extLst>
              <a:ext uri="{FF2B5EF4-FFF2-40B4-BE49-F238E27FC236}">
                <a16:creationId xmlns:a16="http://schemas.microsoft.com/office/drawing/2014/main" id="{9351C3A8-16D7-6918-2B5E-24C825A59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035" y="1825625"/>
            <a:ext cx="1054793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キーメッセージ">
            <a:extLst>
              <a:ext uri="{FF2B5EF4-FFF2-40B4-BE49-F238E27FC236}">
                <a16:creationId xmlns:a16="http://schemas.microsoft.com/office/drawing/2014/main" id="{008A081D-B6EE-85E9-78A7-30A8EAC1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038" y="602742"/>
            <a:ext cx="11186187" cy="7554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ja-JP" altLang="en-US" dirty="0"/>
              <a:t>スライドのタイトルではなく主張したいキーメッセージ、</a:t>
            </a:r>
            <a:br>
              <a:rPr lang="en-US" altLang="ja-JP" dirty="0"/>
            </a:br>
            <a:r>
              <a:rPr lang="ja-JP" altLang="en-US" dirty="0"/>
              <a:t>二段になってもいいので「何が言いたいのか」を書く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9" r:id="rId2"/>
    <p:sldLayoutId id="2147483850" r:id="rId3"/>
    <p:sldLayoutId id="2147483826" r:id="rId4"/>
    <p:sldLayoutId id="2147483851" r:id="rId5"/>
    <p:sldLayoutId id="2147483852" r:id="rId6"/>
    <p:sldLayoutId id="2147483847" r:id="rId7"/>
  </p:sldLayoutIdLst>
  <p:hf hdr="0"/>
  <p:txStyles>
    <p:titleStyle>
      <a:lvl1pPr algn="l" defTabSz="914358" rtl="0" eaLnBrk="1" latinLnBrk="0" hangingPunct="1">
        <a:lnSpc>
          <a:spcPct val="100000"/>
        </a:lnSpc>
        <a:spcBef>
          <a:spcPct val="0"/>
        </a:spcBef>
        <a:buNone/>
        <a:defRPr kumimoji="1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ea"/>
          <a:ea typeface="+mn-ea"/>
          <a:cs typeface="+mn-cs"/>
        </a:defRPr>
      </a:lvl1pPr>
      <a:lvl2pPr marL="685770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ea"/>
          <a:ea typeface="+mn-ea"/>
          <a:cs typeface="+mn-cs"/>
        </a:defRPr>
      </a:lvl2pPr>
      <a:lvl3pPr marL="1142948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126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307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483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63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42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20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9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8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7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6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5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74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53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32" algn="l" defTabSz="914358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2490-4C54-22DA-4391-7B5D32ED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E4F55C72-DFC1-C5A7-18AE-6C46EE241F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2040F8-6F49-7F3E-4BD1-5047BEF9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03" y="527588"/>
            <a:ext cx="4126967" cy="485569"/>
          </a:xfrm>
        </p:spPr>
        <p:txBody>
          <a:bodyPr>
            <a:noAutofit/>
          </a:bodyPr>
          <a:lstStyle/>
          <a:p>
            <a:r>
              <a:rPr lang="ja-JP" altLang="en-US" sz="2400"/>
              <a:t>本多将大</a:t>
            </a:r>
            <a:br>
              <a:rPr lang="en-US" altLang="ja-JP" sz="2400" dirty="0"/>
            </a:br>
            <a:r>
              <a:rPr lang="en-US" altLang="ja-JP" sz="2400" dirty="0"/>
              <a:t>(Masahiro Honda)</a:t>
            </a:r>
            <a:endParaRPr lang="en-JP" altLang="ja-JP" sz="2400"/>
          </a:p>
        </p:txBody>
      </p:sp>
      <p:pic>
        <p:nvPicPr>
          <p:cNvPr id="48" name="図 47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16E535E5-13C9-2D24-C75B-5A8DDC2B2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9767"/>
            <a:ext cx="10004657" cy="5451414"/>
          </a:xfrm>
          <a:prstGeom prst="rect">
            <a:avLst/>
          </a:prstGeom>
        </p:spPr>
      </p:pic>
      <p:pic>
        <p:nvPicPr>
          <p:cNvPr id="2" name="Picture 17" descr="A person standing next to a poster&#10;&#10;Description automatically generated">
            <a:extLst>
              <a:ext uri="{FF2B5EF4-FFF2-40B4-BE49-F238E27FC236}">
                <a16:creationId xmlns:a16="http://schemas.microsoft.com/office/drawing/2014/main" id="{F5962DB8-9A1E-6671-B1FA-D8EB41AB51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721" r="17721"/>
          <a:stretch/>
        </p:blipFill>
        <p:spPr>
          <a:xfrm>
            <a:off x="9786510" y="1696279"/>
            <a:ext cx="2405490" cy="3207320"/>
          </a:xfrm>
          <a:prstGeom prst="rect">
            <a:avLst/>
          </a:prstGeom>
        </p:spPr>
      </p:pic>
      <p:pic>
        <p:nvPicPr>
          <p:cNvPr id="6" name="Picture 2" descr="Profile photo for Masahiro Honda">
            <a:extLst>
              <a:ext uri="{FF2B5EF4-FFF2-40B4-BE49-F238E27FC236}">
                <a16:creationId xmlns:a16="http://schemas.microsoft.com/office/drawing/2014/main" id="{A902A925-9E34-8285-3EE0-9053A459F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3" r="14169" b="-5"/>
          <a:stretch/>
        </p:blipFill>
        <p:spPr bwMode="auto">
          <a:xfrm>
            <a:off x="3011628" y="271989"/>
            <a:ext cx="796329" cy="107387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E86F78B-9DC3-3B11-ABF4-50A00D7FF767}"/>
              </a:ext>
            </a:extLst>
          </p:cNvPr>
          <p:cNvSpPr txBox="1"/>
          <p:nvPr/>
        </p:nvSpPr>
        <p:spPr>
          <a:xfrm>
            <a:off x="3915829" y="268646"/>
            <a:ext cx="83796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/>
              <a:t>来歴：慶應義塾</a:t>
            </a:r>
            <a:r>
              <a:rPr lang="en-US" altLang="ja-JP" sz="1600" dirty="0"/>
              <a:t> </a:t>
            </a:r>
            <a:r>
              <a:rPr lang="ja-JP" altLang="ja-JP" sz="1600"/>
              <a:t>→</a:t>
            </a:r>
            <a:r>
              <a:rPr lang="en-US" altLang="ja-JP" sz="1600" dirty="0"/>
              <a:t>RWTH(</a:t>
            </a:r>
            <a:r>
              <a:rPr lang="ja-JP" altLang="en-US" sz="1600"/>
              <a:t>ドイツ</a:t>
            </a:r>
            <a:r>
              <a:rPr lang="en-US" altLang="ja-JP" sz="1600" dirty="0"/>
              <a:t>) </a:t>
            </a:r>
            <a:r>
              <a:rPr lang="ja-JP" altLang="en-US" sz="1600"/>
              <a:t>経営大学院</a:t>
            </a:r>
            <a:r>
              <a:rPr lang="ja-JP" altLang="ja-JP" sz="1600"/>
              <a:t>→ </a:t>
            </a:r>
            <a:r>
              <a:rPr lang="en-US" altLang="ja-JP" sz="1600" dirty="0"/>
              <a:t>Indeed Japan</a:t>
            </a:r>
            <a:r>
              <a:rPr lang="ja-JP" altLang="ja-JP" sz="1600"/>
              <a:t>→</a:t>
            </a:r>
            <a:r>
              <a:rPr lang="ja-JP" altLang="en-US" sz="1600"/>
              <a:t>同塾</a:t>
            </a:r>
            <a:r>
              <a:rPr lang="ja-JP" altLang="ja-JP" sz="1600"/>
              <a:t>経済</a:t>
            </a:r>
            <a:r>
              <a:rPr lang="ja-JP" altLang="en-US" sz="1600"/>
              <a:t>研究科</a:t>
            </a:r>
            <a:endParaRPr lang="en-US" altLang="ja-JP" sz="1600" dirty="0"/>
          </a:p>
          <a:p>
            <a:r>
              <a:rPr lang="ja-JP" altLang="en-US" sz="1600"/>
              <a:t>専門領域：マーケティング・リサーチ，マーケティング・サイエンス</a:t>
            </a:r>
            <a:endParaRPr lang="en-US" altLang="ja-JP" sz="1600" dirty="0"/>
          </a:p>
          <a:p>
            <a:r>
              <a:rPr lang="ja-JP" altLang="en-US" sz="1600"/>
              <a:t>手法：ベイズ推定、構造方程式モデリング、因果推論、時系列解析、構造推定</a:t>
            </a:r>
            <a:endParaRPr lang="en-US" altLang="ja-JP" sz="1600" dirty="0"/>
          </a:p>
          <a:p>
            <a:r>
              <a:rPr lang="ja-JP" altLang="en-US" sz="1600"/>
              <a:t>趣味</a:t>
            </a:r>
            <a:r>
              <a:rPr lang="en-US" altLang="ja-JP" sz="1600" dirty="0"/>
              <a:t>: </a:t>
            </a:r>
            <a:r>
              <a:rPr lang="ja-JP" altLang="en-US" sz="1600"/>
              <a:t>犬と散歩、インディーズゲーム漁り、イベントの開催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85018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13"/>
    </mc:Choice>
    <mc:Fallback xmlns="">
      <p:transition spd="slow" advTm="870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8152-F09F-A5E2-7BD3-02857F04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235D0929-B509-824E-AA91-F818E92896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2830CC-37AF-AB7B-1ACD-5B20E634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01" y="886017"/>
            <a:ext cx="3544619" cy="485569"/>
          </a:xfrm>
        </p:spPr>
        <p:txBody>
          <a:bodyPr>
            <a:noAutofit/>
          </a:bodyPr>
          <a:lstStyle/>
          <a:p>
            <a:r>
              <a:rPr lang="ja-JP" altLang="en-US" sz="1400"/>
              <a:t>本多将大、高柳剛弘、星野崇宏</a:t>
            </a:r>
            <a:r>
              <a:rPr lang="en-US" altLang="ja-JP" sz="1400" dirty="0"/>
              <a:t>:</a:t>
            </a:r>
            <a:r>
              <a:rPr lang="ja-JP" altLang="en-US" sz="1400"/>
              <a:t>「アンケート調査の効率化のための大規模言語モデル活用に関する検証」</a:t>
            </a:r>
            <a:r>
              <a:rPr lang="en-US" altLang="ja-JP" sz="1400" dirty="0"/>
              <a:t>2025</a:t>
            </a:r>
            <a:r>
              <a:rPr lang="ja-JP" altLang="en-US" sz="1400"/>
              <a:t>年度 人工知能学会全国大会（第</a:t>
            </a:r>
            <a:r>
              <a:rPr lang="en-US" altLang="ja-JP" sz="1400" dirty="0"/>
              <a:t>39</a:t>
            </a:r>
            <a:r>
              <a:rPr lang="ja-JP" altLang="en-US" sz="1400"/>
              <a:t>回）</a:t>
            </a:r>
            <a:r>
              <a:rPr lang="en-US" altLang="ja-JP" sz="1400" dirty="0"/>
              <a:t>, 2025.5</a:t>
            </a:r>
            <a:r>
              <a:rPr lang="ja-JP" altLang="en-US" sz="1400"/>
              <a:t>（大阪）</a:t>
            </a:r>
            <a:endParaRPr lang="en-JP" altLang="ja-JP" sz="1400"/>
          </a:p>
        </p:txBody>
      </p:sp>
      <p:pic>
        <p:nvPicPr>
          <p:cNvPr id="3" name="図 2" descr="カレンダ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2528DCA-277B-07D7-DD7D-39E6FBE3C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47" y="2030854"/>
            <a:ext cx="8764175" cy="4526551"/>
          </a:xfrm>
          <a:prstGeom prst="rect">
            <a:avLst/>
          </a:prstGeom>
        </p:spPr>
      </p:pic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7B018C7-EDB9-07AA-28A4-18EE9D2692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597" y="426927"/>
            <a:ext cx="7772400" cy="117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9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50"/>
    </mc:Choice>
    <mc:Fallback xmlns="">
      <p:transition spd="slow" advTm="1895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8152-F09F-A5E2-7BD3-02857F04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A8CCBE-15E7-0834-CC8C-DB04557B60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543FB2C-0025-4640-FA27-9B81355B8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1600"/>
              <a:t>西尾和生、本多将大、星野崇宏</a:t>
            </a:r>
            <a:r>
              <a:rPr lang="en-US" altLang="ja-JP" sz="1600" dirty="0"/>
              <a:t>:</a:t>
            </a:r>
            <a:r>
              <a:rPr lang="ja-JP" altLang="en-US" sz="1600"/>
              <a:t>「顧客階層プログラムの収益性に関する消費者異質性の評価」</a:t>
            </a:r>
            <a:r>
              <a:rPr lang="en-US" altLang="ja-JP" sz="1600" dirty="0"/>
              <a:t>2025</a:t>
            </a:r>
            <a:r>
              <a:rPr lang="ja-JP" altLang="en-US" sz="1600"/>
              <a:t>年度 商業学会第</a:t>
            </a:r>
            <a:r>
              <a:rPr lang="en-US" altLang="ja-JP" sz="1600" dirty="0"/>
              <a:t>75</a:t>
            </a:r>
            <a:r>
              <a:rPr lang="ja-JP" altLang="en-US" sz="1600"/>
              <a:t>回大会</a:t>
            </a:r>
            <a:r>
              <a:rPr lang="en-US" altLang="ja-JP" sz="1600" dirty="0"/>
              <a:t>, 2024.6</a:t>
            </a:r>
            <a:r>
              <a:rPr lang="ja-JP" altLang="en-US" sz="1600"/>
              <a:t>（大阪）</a:t>
            </a:r>
          </a:p>
          <a:p>
            <a:r>
              <a:rPr lang="en-US" altLang="ja-JP" sz="1600" dirty="0"/>
              <a:t>Kazuki Nishio, Masahiro Honda, Takahiro Hoshino: Thresholds or Constant Rewards? Examining Customer Responses to Loyalty Program Design Changes. ISMS Marketing Science Conference, 2025.6 (US, Washington)</a:t>
            </a:r>
          </a:p>
          <a:p>
            <a:r>
              <a:rPr lang="ja-JP" altLang="en-US" sz="1600"/>
              <a:t>豊福一輝、本多将大、星野崇宏</a:t>
            </a:r>
            <a:r>
              <a:rPr lang="en-US" altLang="ja-JP" sz="1600" dirty="0"/>
              <a:t>:</a:t>
            </a:r>
            <a:r>
              <a:rPr lang="ja-JP" altLang="en-US" sz="1600"/>
              <a:t>「ブランド階層と類似性を統合した競争構造の推定モデル－店舗レベルデータに基づくアプローチ－」日本行動計量学会第</a:t>
            </a:r>
            <a:r>
              <a:rPr lang="en-US" altLang="ja-JP" sz="1600" dirty="0"/>
              <a:t>53</a:t>
            </a:r>
            <a:r>
              <a:rPr lang="ja-JP" altLang="en-US" sz="1600"/>
              <a:t>回大会</a:t>
            </a:r>
            <a:r>
              <a:rPr lang="en-US" altLang="ja-JP" sz="1600" dirty="0"/>
              <a:t>, 2025.8</a:t>
            </a:r>
            <a:r>
              <a:rPr lang="ja-JP" altLang="en-US" sz="1600"/>
              <a:t>（神奈川）</a:t>
            </a:r>
          </a:p>
          <a:p>
            <a:r>
              <a:rPr lang="ja-JP" altLang="en-US" sz="1600"/>
              <a:t>小川真優、梶谷彩乃、本多将大</a:t>
            </a:r>
            <a:r>
              <a:rPr lang="en-US" altLang="ja-JP" sz="1600" dirty="0"/>
              <a:t>:</a:t>
            </a:r>
            <a:r>
              <a:rPr lang="ja-JP" altLang="en-US" sz="1600"/>
              <a:t>「大規模</a:t>
            </a:r>
            <a:r>
              <a:rPr lang="en-US" altLang="ja-JP" sz="1600" dirty="0"/>
              <a:t>RCT </a:t>
            </a:r>
            <a:r>
              <a:rPr lang="ja-JP" altLang="en-US" sz="1600"/>
              <a:t>による</a:t>
            </a:r>
            <a:r>
              <a:rPr lang="en-US" altLang="ja-JP" sz="1600" dirty="0" err="1"/>
              <a:t>Clumpiness</a:t>
            </a:r>
            <a:r>
              <a:rPr lang="en-US" altLang="ja-JP" sz="1600" dirty="0"/>
              <a:t> </a:t>
            </a:r>
            <a:r>
              <a:rPr lang="ja-JP" altLang="en-US" sz="1600"/>
              <a:t>指標のクーポン配布における有効性の実証分析」日本マーケティング・サイエンス学会第</a:t>
            </a:r>
            <a:r>
              <a:rPr lang="en-US" altLang="ja-JP" sz="1600" dirty="0"/>
              <a:t>118</a:t>
            </a:r>
            <a:r>
              <a:rPr lang="ja-JP" altLang="en-US" sz="1600"/>
              <a:t>回研究大会</a:t>
            </a:r>
            <a:r>
              <a:rPr lang="en-US" altLang="ja-JP" sz="1600" dirty="0"/>
              <a:t>, 2025.11</a:t>
            </a:r>
            <a:r>
              <a:rPr lang="ja-JP" altLang="en-US" sz="1600"/>
              <a:t>（東京）</a:t>
            </a:r>
          </a:p>
          <a:p>
            <a:r>
              <a:rPr lang="ja-JP" altLang="en-US" sz="1600"/>
              <a:t>魚住宗一郎、本多将大</a:t>
            </a:r>
            <a:r>
              <a:rPr lang="en-US" altLang="ja-JP" sz="1600" dirty="0"/>
              <a:t>:</a:t>
            </a:r>
            <a:r>
              <a:rPr lang="ja-JP" altLang="en-US" sz="1600"/>
              <a:t>「大規模言語モデルを用いたバスケット内購買順序データによるクラスタリング」日本マーケティング・サイエンス学会第</a:t>
            </a:r>
            <a:r>
              <a:rPr lang="en-US" altLang="ja-JP" sz="1600" dirty="0"/>
              <a:t>118</a:t>
            </a:r>
            <a:r>
              <a:rPr lang="ja-JP" altLang="en-US" sz="1600"/>
              <a:t>回研究大会</a:t>
            </a:r>
            <a:r>
              <a:rPr lang="en-US" altLang="ja-JP" sz="1600" dirty="0"/>
              <a:t>, 2025.11</a:t>
            </a:r>
            <a:r>
              <a:rPr lang="ja-JP" altLang="en-US" sz="1600"/>
              <a:t>（東京）</a:t>
            </a:r>
          </a:p>
          <a:p>
            <a:r>
              <a:rPr lang="ja-JP" altLang="en-US" sz="1600"/>
              <a:t>野口淳史、本多将大</a:t>
            </a:r>
            <a:r>
              <a:rPr lang="en-US" altLang="ja-JP" sz="1600" dirty="0"/>
              <a:t>:</a:t>
            </a:r>
            <a:r>
              <a:rPr lang="ja-JP" altLang="en-US" sz="1600"/>
              <a:t>「混合バンドリングにおける価格変動の相互作用：</a:t>
            </a:r>
            <a:r>
              <a:rPr lang="en-US" altLang="ja-JP" sz="1600" dirty="0"/>
              <a:t>Multipack </a:t>
            </a:r>
            <a:r>
              <a:rPr lang="ja-JP" altLang="en-US" sz="1600"/>
              <a:t>と単品の参照点形成と購買行動」日本マーケティング・サイエンス学会第</a:t>
            </a:r>
            <a:r>
              <a:rPr lang="en-US" altLang="ja-JP" sz="1600" dirty="0"/>
              <a:t>118</a:t>
            </a:r>
            <a:r>
              <a:rPr lang="ja-JP" altLang="en-US" sz="1600"/>
              <a:t>回研究大会</a:t>
            </a:r>
            <a:r>
              <a:rPr lang="en-US" altLang="ja-JP" sz="1600" dirty="0"/>
              <a:t>, 2025.11</a:t>
            </a:r>
            <a:r>
              <a:rPr lang="ja-JP" altLang="en-US" sz="1600"/>
              <a:t>（東京）</a:t>
            </a:r>
          </a:p>
          <a:p>
            <a:endParaRPr lang="ja-JP" altLang="en-US" sz="16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2830CC-37AF-AB7B-1ACD-5B20E634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1400"/>
              <a:t>その他　共同研究の実施</a:t>
            </a:r>
            <a:endParaRPr lang="en-JP" altLang="ja-JP" sz="1400"/>
          </a:p>
        </p:txBody>
      </p:sp>
    </p:spTree>
    <p:extLst>
      <p:ext uri="{BB962C8B-B14F-4D97-AF65-F5344CB8AC3E}">
        <p14:creationId xmlns:p14="http://schemas.microsoft.com/office/powerpoint/2010/main" val="31805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21"/>
    </mc:Choice>
    <mc:Fallback xmlns="">
      <p:transition spd="slow" advTm="11021"/>
    </mc:Fallback>
  </mc:AlternateContent>
</p:sld>
</file>

<file path=ppt/theme/theme1.xml><?xml version="1.0" encoding="utf-8"?>
<a:theme xmlns:a="http://schemas.openxmlformats.org/drawingml/2006/main" name="hoshino_themes">
  <a:themeElements>
    <a:clrScheme name="星野崇宏研究会配色システム">
      <a:dk1>
        <a:srgbClr val="000000"/>
      </a:dk1>
      <a:lt1>
        <a:srgbClr val="FFFFFF"/>
      </a:lt1>
      <a:dk2>
        <a:srgbClr val="4B66A0"/>
      </a:dk2>
      <a:lt2>
        <a:srgbClr val="EBEBEB"/>
      </a:lt2>
      <a:accent1>
        <a:srgbClr val="233871"/>
      </a:accent1>
      <a:accent2>
        <a:srgbClr val="D7516E"/>
      </a:accent2>
      <a:accent3>
        <a:srgbClr val="EBB556"/>
      </a:accent3>
      <a:accent4>
        <a:srgbClr val="3FAE83"/>
      </a:accent4>
      <a:accent5>
        <a:srgbClr val="6D90C9"/>
      </a:accent5>
      <a:accent6>
        <a:srgbClr val="BFDFFF"/>
      </a:accent6>
      <a:hlink>
        <a:srgbClr val="0563C1"/>
      </a:hlink>
      <a:folHlink>
        <a:srgbClr val="954F72"/>
      </a:folHlink>
    </a:clrScheme>
    <a:fontScheme name="星野崇宏研究会書体システム">
      <a:majorFont>
        <a:latin typeface="Source Han Serif JP Heavy"/>
        <a:ea typeface="Source Han Serif JP Heavy"/>
        <a:cs typeface=""/>
      </a:majorFont>
      <a:minorFont>
        <a:latin typeface="Manrope ExtraBold"/>
        <a:ea typeface="Source Han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0" tIns="0" rIns="0" bIns="0" rtlCol="0" anchor="ctr"/>
      <a:lstStyle>
        <a:defPPr algn="ctr">
          <a:defRPr dirty="0"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ctr">
        <a:noAutofit/>
      </a:bodyPr>
      <a:lstStyle>
        <a:defPPr algn="l">
          <a:defRPr sz="3600" dirty="0" err="1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研究発表用スライドテンプレート" id="{E65C3785-8222-2A4A-A286-47DE266306FA}" vid="{A3E57B4C-3D8E-594A-BA36-065BA03487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Conference Oral Presentation</Template>
  <TotalTime>30283</TotalTime>
  <Words>349</Words>
  <Application>Microsoft Macintosh PowerPoint</Application>
  <PresentationFormat>ワイド画面</PresentationFormat>
  <Paragraphs>16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MS PGothic</vt:lpstr>
      <vt:lpstr>Source Han Sans JP</vt:lpstr>
      <vt:lpstr>Source Han Serif JP Heavy</vt:lpstr>
      <vt:lpstr>Aptos</vt:lpstr>
      <vt:lpstr>Arial</vt:lpstr>
      <vt:lpstr>hoshino_themes</vt:lpstr>
      <vt:lpstr>本多将大 (Masahiro Honda)</vt:lpstr>
      <vt:lpstr>本多将大、高柳剛弘、星野崇宏:「アンケート調査の効率化のための大規模言語モデル活用に関する検証」2025年度 人工知能学会全国大会（第39回）, 2025.5（大阪）</vt:lpstr>
      <vt:lpstr>その他　共同研究の実施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周　舒意</dc:creator>
  <cp:lastModifiedBy>masahirohonda@keio.jp</cp:lastModifiedBy>
  <cp:revision>19</cp:revision>
  <cp:lastPrinted>2025-05-22T08:43:40Z</cp:lastPrinted>
  <dcterms:created xsi:type="dcterms:W3CDTF">2025-05-18T10:38:31Z</dcterms:created>
  <dcterms:modified xsi:type="dcterms:W3CDTF">2026-04-05T16:33:26Z</dcterms:modified>
</cp:coreProperties>
</file>